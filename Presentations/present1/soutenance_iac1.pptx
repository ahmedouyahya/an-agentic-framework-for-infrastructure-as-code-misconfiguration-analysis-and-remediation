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64592" cy="51435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9728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09728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109728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109728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7" name="Shape 5"/>
          <p:cNvSpPr/>
          <p:nvPr/>
        </p:nvSpPr>
        <p:spPr>
          <a:xfrm>
            <a:off x="109728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210312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210312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210312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1" name="Shape 9"/>
          <p:cNvSpPr/>
          <p:nvPr/>
        </p:nvSpPr>
        <p:spPr>
          <a:xfrm>
            <a:off x="210312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210312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310896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310896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5" name="Shape 13"/>
          <p:cNvSpPr/>
          <p:nvPr/>
        </p:nvSpPr>
        <p:spPr>
          <a:xfrm>
            <a:off x="310896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310896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7" name="Shape 15"/>
          <p:cNvSpPr/>
          <p:nvPr/>
        </p:nvSpPr>
        <p:spPr>
          <a:xfrm>
            <a:off x="310896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411480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19" name="Shape 17"/>
          <p:cNvSpPr/>
          <p:nvPr/>
        </p:nvSpPr>
        <p:spPr>
          <a:xfrm>
            <a:off x="411480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411480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1" name="Shape 19"/>
          <p:cNvSpPr/>
          <p:nvPr/>
        </p:nvSpPr>
        <p:spPr>
          <a:xfrm>
            <a:off x="411480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411480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512064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512064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512064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512064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512064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612648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612648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612648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612648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612648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13232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713232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713232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713232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7" name="Shape 35"/>
          <p:cNvSpPr/>
          <p:nvPr/>
        </p:nvSpPr>
        <p:spPr>
          <a:xfrm>
            <a:off x="713232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8" name="Shape 36"/>
          <p:cNvSpPr/>
          <p:nvPr/>
        </p:nvSpPr>
        <p:spPr>
          <a:xfrm>
            <a:off x="8138160" y="2743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9" name="Shape 37"/>
          <p:cNvSpPr/>
          <p:nvPr/>
        </p:nvSpPr>
        <p:spPr>
          <a:xfrm>
            <a:off x="8138160" y="11887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0" name="Shape 38"/>
          <p:cNvSpPr/>
          <p:nvPr/>
        </p:nvSpPr>
        <p:spPr>
          <a:xfrm>
            <a:off x="8138160" y="21031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1" name="Shape 39"/>
          <p:cNvSpPr/>
          <p:nvPr/>
        </p:nvSpPr>
        <p:spPr>
          <a:xfrm>
            <a:off x="8138160" y="30175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2" name="Shape 40"/>
          <p:cNvSpPr/>
          <p:nvPr/>
        </p:nvSpPr>
        <p:spPr>
          <a:xfrm>
            <a:off x="8138160" y="3931920"/>
            <a:ext cx="54864" cy="54864"/>
          </a:xfrm>
          <a:prstGeom prst="ellipse">
            <a:avLst/>
          </a:prstGeom>
          <a:solidFill>
            <a:srgbClr val="FFFFFF">
              <a:alpha val="15000"/>
            </a:srgbClr>
          </a:solidFill>
          <a:ln w="12700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320040" y="822960"/>
            <a:ext cx="850392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b="1" spc="600" kern="0" dirty="0">
                <a:solidFill>
                  <a:srgbClr val="00BFA5"/>
                </a:solidFill>
              </a:rPr>
              <a:t>STATE OF THE ART</a:t>
            </a:r>
            <a:endParaRPr lang="en-US" sz="1200" dirty="0"/>
          </a:p>
        </p:txBody>
      </p:sp>
      <p:sp>
        <p:nvSpPr>
          <p:cNvPr id="44" name="Text 42"/>
          <p:cNvSpPr/>
          <p:nvPr/>
        </p:nvSpPr>
        <p:spPr>
          <a:xfrm>
            <a:off x="320040" y="1280160"/>
            <a:ext cx="850392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An Agentic Framework for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IaC Misconfiguration Analysis</a:t>
            </a:r>
            <a:endParaRPr lang="en-US" sz="3400" dirty="0"/>
          </a:p>
          <a:p>
            <a:pPr algn="l" indent="0" marL="0">
              <a:buNone/>
            </a:pPr>
            <a:r>
              <a:rPr lang="en-US" sz="3400" b="1" dirty="0">
                <a:solidFill>
                  <a:srgbClr val="FFFFFF"/>
                </a:solidFill>
              </a:rPr>
              <a:t>and Remediation</a:t>
            </a:r>
            <a:endParaRPr lang="en-US" sz="3400" dirty="0"/>
          </a:p>
        </p:txBody>
      </p:sp>
      <p:sp>
        <p:nvSpPr>
          <p:cNvPr id="45" name="Shape 43"/>
          <p:cNvSpPr/>
          <p:nvPr/>
        </p:nvSpPr>
        <p:spPr>
          <a:xfrm>
            <a:off x="320040" y="3611880"/>
            <a:ext cx="2286000" cy="36576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46" name="Text 44"/>
          <p:cNvSpPr/>
          <p:nvPr/>
        </p:nvSpPr>
        <p:spPr>
          <a:xfrm>
            <a:off x="320040" y="37490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dirty="0">
                <a:solidFill>
                  <a:srgbClr val="90A4AE"/>
                </a:solidFill>
              </a:rPr>
              <a:t>Ahmedou Yahye Kheyri   ·   Supervised by: Hala Bezine</a:t>
            </a:r>
            <a:endParaRPr lang="en-US" sz="1300" dirty="0"/>
          </a:p>
        </p:txBody>
      </p:sp>
      <p:sp>
        <p:nvSpPr>
          <p:cNvPr id="47" name="Text 45"/>
          <p:cNvSpPr/>
          <p:nvPr/>
        </p:nvSpPr>
        <p:spPr>
          <a:xfrm>
            <a:off x="320040" y="4206240"/>
            <a:ext cx="850392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200" dirty="0">
                <a:solidFill>
                  <a:srgbClr val="546E7A"/>
                </a:solidFill>
              </a:rPr>
              <a:t>March 2026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PLAN DE L'EXPOSÉ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27432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024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Contexte &amp; Problématique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777240" y="12527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IaC, sécurité et limites des systèmes RAG passifs</a:t>
            </a:r>
            <a:endParaRPr lang="en-US" sz="900" dirty="0"/>
          </a:p>
        </p:txBody>
      </p:sp>
      <p:sp>
        <p:nvSpPr>
          <p:cNvPr id="8" name="Shape 6"/>
          <p:cNvSpPr/>
          <p:nvPr/>
        </p:nvSpPr>
        <p:spPr>
          <a:xfrm>
            <a:off x="274320" y="2039112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7432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777240" y="2011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Taxonomies &amp; Détection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777240" y="22402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Classification des défauts et smells de sécurité</a:t>
            </a:r>
            <a:endParaRPr lang="en-US" sz="900" dirty="0"/>
          </a:p>
        </p:txBody>
      </p:sp>
      <p:sp>
        <p:nvSpPr>
          <p:cNvPr id="12" name="Shape 10"/>
          <p:cNvSpPr/>
          <p:nvPr/>
        </p:nvSpPr>
        <p:spPr>
          <a:xfrm>
            <a:off x="274320" y="3026664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27432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777240" y="29992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Outils Spécialisés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777240" y="32278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GLITCH, Checkov, Terrascan, Ansible-Lint</a:t>
            </a:r>
            <a:endParaRPr lang="en-US" sz="900" dirty="0"/>
          </a:p>
        </p:txBody>
      </p:sp>
      <p:sp>
        <p:nvSpPr>
          <p:cNvPr id="16" name="Shape 14"/>
          <p:cNvSpPr/>
          <p:nvPr/>
        </p:nvSpPr>
        <p:spPr>
          <a:xfrm>
            <a:off x="274320" y="4014216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27432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777240" y="3986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LLMs pour la Sécurité IaC</a:t>
            </a:r>
            <a:endParaRPr lang="en-US" sz="1200" dirty="0"/>
          </a:p>
        </p:txBody>
      </p:sp>
      <p:sp>
        <p:nvSpPr>
          <p:cNvPr id="19" name="Text 17"/>
          <p:cNvSpPr/>
          <p:nvPr/>
        </p:nvSpPr>
        <p:spPr>
          <a:xfrm>
            <a:off x="777240" y="42153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Génération sécurisée et détection sémantique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754880" y="1051560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7548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257800" y="1024128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LLM vs Analyseurs Statiques</a:t>
            </a:r>
            <a:endParaRPr lang="en-US" sz="1200" dirty="0"/>
          </a:p>
        </p:txBody>
      </p:sp>
      <p:sp>
        <p:nvSpPr>
          <p:cNvPr id="23" name="Text 21"/>
          <p:cNvSpPr/>
          <p:nvPr/>
        </p:nvSpPr>
        <p:spPr>
          <a:xfrm>
            <a:off x="5257800" y="1252728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Benchmark hybride et complémentarité</a:t>
            </a:r>
            <a:endParaRPr lang="en-US" sz="900" dirty="0"/>
          </a:p>
        </p:txBody>
      </p:sp>
      <p:sp>
        <p:nvSpPr>
          <p:cNvPr id="24" name="Shape 22"/>
          <p:cNvSpPr/>
          <p:nvPr/>
        </p:nvSpPr>
        <p:spPr>
          <a:xfrm>
            <a:off x="4754880" y="2039112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4754880" y="2039112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5257800" y="2011680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Architecture Agentique</a:t>
            </a:r>
            <a:endParaRPr lang="en-US" sz="1200" dirty="0"/>
          </a:p>
        </p:txBody>
      </p:sp>
      <p:sp>
        <p:nvSpPr>
          <p:cNvPr id="27" name="Text 25"/>
          <p:cNvSpPr/>
          <p:nvPr/>
        </p:nvSpPr>
        <p:spPr>
          <a:xfrm>
            <a:off x="5257800" y="2240280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Les 6 modules du framework proposé</a:t>
            </a:r>
            <a:endParaRPr lang="en-US" sz="900" dirty="0"/>
          </a:p>
        </p:txBody>
      </p:sp>
      <p:sp>
        <p:nvSpPr>
          <p:cNvPr id="28" name="Shape 26"/>
          <p:cNvSpPr/>
          <p:nvPr/>
        </p:nvSpPr>
        <p:spPr>
          <a:xfrm>
            <a:off x="4754880" y="3026664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4754880" y="3026664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07</a:t>
            </a:r>
            <a:endParaRPr lang="en-US" sz="1100" dirty="0"/>
          </a:p>
        </p:txBody>
      </p:sp>
      <p:sp>
        <p:nvSpPr>
          <p:cNvPr id="30" name="Text 28"/>
          <p:cNvSpPr/>
          <p:nvPr/>
        </p:nvSpPr>
        <p:spPr>
          <a:xfrm>
            <a:off x="5257800" y="2999232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Flux de Travail</a:t>
            </a:r>
            <a:endParaRPr lang="en-US" sz="1200" dirty="0"/>
          </a:p>
        </p:txBody>
      </p:sp>
      <p:sp>
        <p:nvSpPr>
          <p:cNvPr id="31" name="Text 29"/>
          <p:cNvSpPr/>
          <p:nvPr/>
        </p:nvSpPr>
        <p:spPr>
          <a:xfrm>
            <a:off x="5257800" y="3227832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Validation itérative et boucle critique</a:t>
            </a:r>
            <a:endParaRPr lang="en-US" sz="900" dirty="0"/>
          </a:p>
        </p:txBody>
      </p:sp>
      <p:sp>
        <p:nvSpPr>
          <p:cNvPr id="32" name="Shape 30"/>
          <p:cNvSpPr/>
          <p:nvPr/>
        </p:nvSpPr>
        <p:spPr>
          <a:xfrm>
            <a:off x="4754880" y="4014216"/>
            <a:ext cx="411480" cy="4114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3" name="Text 31"/>
          <p:cNvSpPr/>
          <p:nvPr/>
        </p:nvSpPr>
        <p:spPr>
          <a:xfrm>
            <a:off x="4754880" y="4014216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08</a:t>
            </a:r>
            <a:endParaRPr lang="en-US" sz="1100" dirty="0"/>
          </a:p>
        </p:txBody>
      </p:sp>
      <p:sp>
        <p:nvSpPr>
          <p:cNvPr id="34" name="Text 32"/>
          <p:cNvSpPr/>
          <p:nvPr/>
        </p:nvSpPr>
        <p:spPr>
          <a:xfrm>
            <a:off x="5257800" y="3986784"/>
            <a:ext cx="40233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1B2A3B"/>
                </a:solidFill>
              </a:rPr>
              <a:t>Apports &amp; Perspectives</a:t>
            </a:r>
            <a:endParaRPr lang="en-US" sz="1200" dirty="0"/>
          </a:p>
        </p:txBody>
      </p:sp>
      <p:sp>
        <p:nvSpPr>
          <p:cNvPr id="35" name="Text 33"/>
          <p:cNvSpPr/>
          <p:nvPr/>
        </p:nvSpPr>
        <p:spPr>
          <a:xfrm>
            <a:off x="5257800" y="4215384"/>
            <a:ext cx="4023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Contributions et travaux futurs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Contexte &amp; Problématique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393192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393192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78992"/>
            <a:ext cx="384048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Infrastructure as Code (IaC)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463040"/>
            <a:ext cx="374904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Outils :</a:t>
            </a:r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  Terraform, Ansible, Puppet, Chef, K8s YAML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Avantages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  Automatisation, reproductibilité, scalabilité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Risques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  Security smells, mots de passe en clair, permissions excessives, dépendances obsolètes</a:t>
            </a:r>
            <a:endParaRPr lang="en-US" sz="1100" dirty="0"/>
          </a:p>
          <a:p>
            <a:pPr indent="0" marL="0">
              <a:buNone/>
            </a:pP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Impact :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  Pertes financières, interruptions de service, violations de données [3]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0" y="1051560"/>
            <a:ext cx="429768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572000" y="1051560"/>
            <a:ext cx="429768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4617720" y="1078992"/>
            <a:ext cx="4206240" cy="292608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Limites du RAG Standard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4663440" y="1508760"/>
            <a:ext cx="292608" cy="29260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663440" y="15087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47488" y="1527048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Fournit des conseils sans vérifier leur applicabilité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4663440" y="2093976"/>
            <a:ext cx="292608" cy="29260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4663440" y="2093976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47488" y="2112264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Pas de validation croisée indépendante du LLM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2679192"/>
            <a:ext cx="292608" cy="29260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663440" y="2679192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5047488" y="269748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Correctifs non testés sur le code réel analysé</a:t>
            </a:r>
            <a:endParaRPr lang="en-US" sz="1100" dirty="0"/>
          </a:p>
        </p:txBody>
      </p:sp>
      <p:sp>
        <p:nvSpPr>
          <p:cNvPr id="20" name="Shape 18"/>
          <p:cNvSpPr/>
          <p:nvPr/>
        </p:nvSpPr>
        <p:spPr>
          <a:xfrm>
            <a:off x="4663440" y="3264408"/>
            <a:ext cx="292608" cy="292608"/>
          </a:xfrm>
          <a:prstGeom prst="ellipse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4663440" y="3264408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✗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5047488" y="3282696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Absence de boucle de critique itérative</a:t>
            </a:r>
            <a:endParaRPr lang="en-US" sz="1100" dirty="0"/>
          </a:p>
        </p:txBody>
      </p:sp>
      <p:sp>
        <p:nvSpPr>
          <p:cNvPr id="23" name="Shape 21"/>
          <p:cNvSpPr/>
          <p:nvPr/>
        </p:nvSpPr>
        <p:spPr>
          <a:xfrm>
            <a:off x="4663440" y="3849624"/>
            <a:ext cx="292608" cy="292608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663440" y="3849624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→</a:t>
            </a:r>
            <a:endParaRPr lang="en-US" sz="1100" dirty="0"/>
          </a:p>
        </p:txBody>
      </p:sp>
      <p:sp>
        <p:nvSpPr>
          <p:cNvPr id="25" name="Text 23"/>
          <p:cNvSpPr/>
          <p:nvPr/>
        </p:nvSpPr>
        <p:spPr>
          <a:xfrm>
            <a:off x="5047488" y="3867912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Besoin : un agent actif, critique et vérificateur</a:t>
            </a:r>
            <a:endParaRPr lang="en-US" sz="11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Taxonomies des Défauts &amp; Security Smells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05740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27432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2019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36576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7 Security Smells [1]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365760" y="214884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Rahman et al. — mots de passe codés en dur, cryptographie faible… Outils : Ansible, Chef, Puppet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468880" y="105156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2468880" y="1051560"/>
            <a:ext cx="2057400" cy="4572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46888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2020</a:t>
            </a:r>
            <a:endParaRPr lang="en-US" sz="1800" dirty="0"/>
          </a:p>
        </p:txBody>
      </p:sp>
      <p:sp>
        <p:nvSpPr>
          <p:cNvPr id="12" name="Text 10"/>
          <p:cNvSpPr/>
          <p:nvPr/>
        </p:nvSpPr>
        <p:spPr>
          <a:xfrm>
            <a:off x="256032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Gang of Eight [6]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2560320" y="214884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Rahman et al. — 8 catégories de défauts IaC : Configuration Data, Dependency, Security…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51560"/>
            <a:ext cx="205740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66344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2021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475488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Réplication [2]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4754880" y="214884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Rahman et al. — Étude de réplication sur Ansible &amp; Chef confirmant la taxonomie initiale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858000" y="1051560"/>
            <a:ext cx="2057400" cy="356616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858000" y="1051560"/>
            <a:ext cx="2057400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6858000" y="1097280"/>
            <a:ext cx="2057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</a:rPr>
              <a:t>2025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949440" y="1600200"/>
            <a:ext cx="19202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62 Catégories [8]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6949440" y="2148840"/>
            <a:ext cx="1920240" cy="22860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War et al. — 7 outils IaC, alignement CWE — base de connaissances idéale pour un système RAG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274320" y="4736592"/>
            <a:ext cx="8595360" cy="292608"/>
          </a:xfrm>
          <a:prstGeom prst="rect">
            <a:avLst/>
          </a:prstGeom>
          <a:solidFill>
            <a:srgbClr val="00BFA5">
              <a:alpha val="8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365760" y="4754880"/>
            <a:ext cx="8412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0D1B2A"/>
                </a:solidFill>
              </a:rPr>
              <a:t>→  La taxonomie de 62 catégories (War et al., 2025) alignée CWE constitue la base de connaissances du système RAG proposé.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FFFFFF"/>
                </a:solidFill>
              </a:rPr>
              <a:t>Détection : des Métriques aux Modèles Sémantiques</a:t>
            </a:r>
            <a:endParaRPr lang="en-US" sz="20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743200" cy="384048"/>
          </a:xfrm>
          <a:prstGeom prst="rect">
            <a:avLst/>
          </a:prstGeom>
          <a:solidFill>
            <a:srgbClr val="546E7A"/>
          </a:solidFill>
          <a:ln w="12700">
            <a:solidFill>
              <a:srgbClr val="546E7A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Approche Classique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546E7A"/>
                </a:solidFill>
              </a:rPr>
              <a:t>[9]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Dalla Palma et al., 2022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3B"/>
                </a:solidFill>
              </a:rPr>
              <a:t>Méthode</a:t>
            </a:r>
            <a:endParaRPr lang="en-US" sz="1000" dirty="0"/>
          </a:p>
        </p:txBody>
      </p:sp>
      <p:sp>
        <p:nvSpPr>
          <p:cNvPr id="10" name="Text 8"/>
          <p:cNvSpPr/>
          <p:nvPr/>
        </p:nvSpPr>
        <p:spPr>
          <a:xfrm>
            <a:off x="365760" y="20848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Random Forest + métriques produit/processus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365760" y="2834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3B"/>
                </a:solidFill>
              </a:rPr>
              <a:t>Résultat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5760" y="3063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Meilleur prédicteur : métriques structurelles (tokens, entropie) &gt; métriques de processus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227832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3227832" y="1051560"/>
            <a:ext cx="2743200" cy="3840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3319272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Deep Learning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3319272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42A5F5"/>
                </a:solidFill>
              </a:rPr>
              <a:t>[4]</a:t>
            </a:r>
            <a:endParaRPr lang="en-US" sz="1100" dirty="0"/>
          </a:p>
        </p:txBody>
      </p:sp>
      <p:sp>
        <p:nvSpPr>
          <p:cNvPr id="17" name="Text 15"/>
          <p:cNvSpPr/>
          <p:nvPr/>
        </p:nvSpPr>
        <p:spPr>
          <a:xfrm>
            <a:off x="3685032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War et al., 2025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319272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3B"/>
                </a:solidFill>
              </a:rPr>
              <a:t>Méthode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3319272" y="20848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CodeBERT &amp; LongFormer — compréhension sémantique IaC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3319272" y="2834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3B"/>
                </a:solidFill>
              </a:rPr>
              <a:t>Résultat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319272" y="3063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F1 : 0.46 → 0.92 sur Ansible (gain majeur vs méthodes classiques)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6181344" y="1051560"/>
            <a:ext cx="27432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3" name="Shape 21"/>
          <p:cNvSpPr/>
          <p:nvPr/>
        </p:nvSpPr>
        <p:spPr>
          <a:xfrm>
            <a:off x="6181344" y="1051560"/>
            <a:ext cx="2743200" cy="3840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6272784" y="1097280"/>
            <a:ext cx="2560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LLM + Prompt Engineering</a:t>
            </a:r>
            <a:endParaRPr lang="en-US" sz="1200" dirty="0"/>
          </a:p>
        </p:txBody>
      </p:sp>
      <p:sp>
        <p:nvSpPr>
          <p:cNvPr id="25" name="Text 23"/>
          <p:cNvSpPr/>
          <p:nvPr/>
        </p:nvSpPr>
        <p:spPr>
          <a:xfrm>
            <a:off x="6272784" y="1508760"/>
            <a:ext cx="3657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00BFA5"/>
                </a:solidFill>
              </a:rPr>
              <a:t>[5]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6638544" y="15087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546E7A"/>
                </a:solidFill>
              </a:rPr>
              <a:t>De Vito et al., 2025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6272784" y="187452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3B"/>
                </a:solidFill>
              </a:rPr>
              <a:t>Méthode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6272784" y="2084832"/>
            <a:ext cx="256032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SecLLM — prompt engineering + cache + filtrage par score de confiance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6272784" y="2834640"/>
            <a:ext cx="256032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b="1" dirty="0">
                <a:solidFill>
                  <a:srgbClr val="1B2A3B"/>
                </a:solidFill>
              </a:rPr>
              <a:t>Résultat</a:t>
            </a:r>
            <a:endParaRPr lang="en-US" sz="1000" dirty="0"/>
          </a:p>
        </p:txBody>
      </p:sp>
      <p:sp>
        <p:nvSpPr>
          <p:cNvPr id="30" name="Text 28"/>
          <p:cNvSpPr/>
          <p:nvPr/>
        </p:nvSpPr>
        <p:spPr>
          <a:xfrm>
            <a:off x="6272784" y="3063240"/>
            <a:ext cx="256032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Surpasse GLITCH sur plusieurs datasets, gère la non-déterminisme LLM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Outils de Sécurité Spécialisés pour l'IaC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2011680" cy="457200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47472" y="1097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GLITCH [10]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347472" y="1581912"/>
            <a:ext cx="1874520" cy="256032"/>
          </a:xfrm>
          <a:prstGeom prst="rect">
            <a:avLst/>
          </a:prstGeom>
          <a:solidFill>
            <a:srgbClr val="00BFA5">
              <a:alpha val="25000"/>
            </a:srgbClr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47472" y="159105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BFA5"/>
                </a:solidFill>
              </a:rPr>
              <a:t>Validateur principal</a:t>
            </a:r>
            <a:endParaRPr lang="en-US" sz="900" dirty="0"/>
          </a:p>
        </p:txBody>
      </p:sp>
      <p:sp>
        <p:nvSpPr>
          <p:cNvPr id="9" name="Text 7"/>
          <p:cNvSpPr/>
          <p:nvPr/>
        </p:nvSpPr>
        <p:spPr>
          <a:xfrm>
            <a:off x="365760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3B"/>
                </a:solidFill>
              </a:rPr>
              <a:t>Périmètre :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65760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Ansible, Chef, Puppet</a:t>
            </a:r>
            <a:endParaRPr lang="en-US" sz="900" dirty="0"/>
          </a:p>
        </p:txBody>
      </p:sp>
      <p:sp>
        <p:nvSpPr>
          <p:cNvPr id="11" name="Text 9"/>
          <p:cNvSpPr/>
          <p:nvPr/>
        </p:nvSpPr>
        <p:spPr>
          <a:xfrm>
            <a:off x="365760" y="242316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Framework polyglotte — représentation intermédiaire pour détecter 9 smells. Précision supérieure à SLIC et SLAC.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450592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2450592" y="1051560"/>
            <a:ext cx="2011680" cy="4572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2523744" y="1097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Checkov —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2523744" y="1581912"/>
            <a:ext cx="1874520" cy="256032"/>
          </a:xfrm>
          <a:prstGeom prst="rect">
            <a:avLst/>
          </a:prstGeom>
          <a:solidFill>
            <a:srgbClr val="42A5F5">
              <a:alpha val="25000"/>
            </a:srgbClr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2523744" y="159105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42A5F5"/>
                </a:solidFill>
              </a:rPr>
              <a:t>Validateur Terraform/K8s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2542032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3B"/>
                </a:solidFill>
              </a:rPr>
              <a:t>Périmètre :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2542032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Terraform, K8s</a:t>
            </a:r>
            <a:endParaRPr lang="en-US" sz="900" dirty="0"/>
          </a:p>
        </p:txBody>
      </p:sp>
      <p:sp>
        <p:nvSpPr>
          <p:cNvPr id="19" name="Text 17"/>
          <p:cNvSpPr/>
          <p:nvPr/>
        </p:nvSpPr>
        <p:spPr>
          <a:xfrm>
            <a:off x="2542032" y="242316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Scanner statique open-source de politiques de sécurité IaC, très utilisé en industrie.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626864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4626864" y="1051560"/>
            <a:ext cx="2011680" cy="45720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700016" y="1097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Terrascan —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4700016" y="1581912"/>
            <a:ext cx="1874520" cy="256032"/>
          </a:xfrm>
          <a:prstGeom prst="rect">
            <a:avLst/>
          </a:prstGeom>
          <a:solidFill>
            <a:srgbClr val="00897B">
              <a:alpha val="25000"/>
            </a:srgbClr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700016" y="159105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00897B"/>
                </a:solidFill>
              </a:rPr>
              <a:t>Validation croisée</a:t>
            </a:r>
            <a:endParaRPr lang="en-US" sz="900" dirty="0"/>
          </a:p>
        </p:txBody>
      </p:sp>
      <p:sp>
        <p:nvSpPr>
          <p:cNvPr id="25" name="Text 23"/>
          <p:cNvSpPr/>
          <p:nvPr/>
        </p:nvSpPr>
        <p:spPr>
          <a:xfrm>
            <a:off x="4718304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3B"/>
                </a:solidFill>
              </a:rPr>
              <a:t>Périmètre :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4718304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Multi-outils IaC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4718304" y="242316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Analyse statique multi-IaC, détection de violations de conformité et de sécurité.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803136" y="1051560"/>
            <a:ext cx="2011680" cy="37033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6803136" y="1051560"/>
            <a:ext cx="2011680" cy="45720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6876288" y="1097280"/>
            <a:ext cx="18745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SecLLM [5]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6876288" y="1581912"/>
            <a:ext cx="1874520" cy="256032"/>
          </a:xfrm>
          <a:prstGeom prst="rect">
            <a:avLst/>
          </a:prstGeom>
          <a:solidFill>
            <a:srgbClr val="FFB300">
              <a:alpha val="25000"/>
            </a:srgbClr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876288" y="1591056"/>
            <a:ext cx="187452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b="1" dirty="0">
                <a:solidFill>
                  <a:srgbClr val="FFB300"/>
                </a:solidFill>
              </a:rPr>
              <a:t>Détection sémantique</a:t>
            </a:r>
            <a:endParaRPr lang="en-US" sz="900" dirty="0"/>
          </a:p>
        </p:txBody>
      </p:sp>
      <p:sp>
        <p:nvSpPr>
          <p:cNvPr id="33" name="Text 31"/>
          <p:cNvSpPr/>
          <p:nvPr/>
        </p:nvSpPr>
        <p:spPr>
          <a:xfrm>
            <a:off x="6894576" y="1938528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1B2A3B"/>
                </a:solidFill>
              </a:rPr>
              <a:t>Périmètre :</a:t>
            </a:r>
            <a:endParaRPr lang="en-US" sz="900" dirty="0"/>
          </a:p>
        </p:txBody>
      </p:sp>
      <p:sp>
        <p:nvSpPr>
          <p:cNvPr id="34" name="Text 32"/>
          <p:cNvSpPr/>
          <p:nvPr/>
        </p:nvSpPr>
        <p:spPr>
          <a:xfrm>
            <a:off x="6894576" y="2121408"/>
            <a:ext cx="1828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546E7A"/>
                </a:solidFill>
              </a:rPr>
              <a:t>IaC général</a:t>
            </a:r>
            <a:endParaRPr lang="en-US" sz="900" dirty="0"/>
          </a:p>
        </p:txBody>
      </p:sp>
      <p:sp>
        <p:nvSpPr>
          <p:cNvPr id="35" name="Text 33"/>
          <p:cNvSpPr/>
          <p:nvPr/>
        </p:nvSpPr>
        <p:spPr>
          <a:xfrm>
            <a:off x="6894576" y="2423160"/>
            <a:ext cx="1828800" cy="21945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Framework LLM avec caching + filtrage par score de confiance pour détecter les smells.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LLMs vs Analyseurs Statiques — Benchmark [12]</a:t>
            </a:r>
            <a:endParaRPr lang="en-US" sz="2200" dirty="0"/>
          </a:p>
        </p:txBody>
      </p:sp>
      <p:graphicFrame>
        <p:nvGraphicFramePr>
          <p:cNvPr id="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274320" y="1051560"/>
          <a:ext cx="8595360" cy="914400"/>
        </p:xfrm>
        <a:graphic>
          <a:graphicData uri="http://schemas.openxmlformats.org/drawingml/2006/table">
            <a:tbl>
              <a:tblPr/>
              <a:tblGrid>
                <a:gridCol w="2560320"/>
                <a:gridCol w="2926080"/>
                <a:gridCol w="2926080"/>
              </a:tblGrid>
              <a:tr h="0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Critère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1B2A3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Analyseurs Statiques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(SonarQube, CodeQL, SnykCode)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546E7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LLMs</a:t>
                      </a:r>
                      <a:endParaRPr lang="en-US" sz="1000" dirty="0"/>
                    </a:p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</a:rPr>
                        <a:t>(GPT-4.1, Mistral Large, DeepSeek V3)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BFA5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Score F1 moyen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546E7A"/>
                          </a:solidFill>
                        </a:rPr>
                        <a:t>0.26 – 0.55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00BFA5"/>
                          </a:solidFill>
                        </a:rPr>
                        <a:t>0.75 – 0.80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Raisonnement contextuel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Limité (règles fixes)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Fort (compréhension sémantique)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Faux positifs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Peu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Plus nombreux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Localisation erreurs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Précise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Approximative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Déterminisme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Oui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dirty="0">
                          <a:solidFill>
                            <a:srgbClr val="1B2A3B"/>
                          </a:solidFill>
                        </a:rPr>
                        <a:t>Non (stochastique)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AFAFA"/>
                    </a:solidFill>
                  </a:tcPr>
                </a:tc>
              </a:tr>
              <a:tr h="0">
                <a:tc>
                  <a:txBody>
                    <a:bodyPr/>
                    <a:lstStyle/>
                    <a:p>
                      <a:pPr algn="l" indent="0" marL="0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</a:rPr>
                        <a:t>Bilan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</a:rPr>
                        <a:t>Précis mais peu de rappel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1B2A3B"/>
                          </a:solidFill>
                        </a:rPr>
                        <a:t>Meilleur rappel mais imprécis</a:t>
                      </a:r>
                      <a:endParaRPr lang="en-US" sz="1000" dirty="0"/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0E0E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Shape 2"/>
          <p:cNvSpPr/>
          <p:nvPr/>
        </p:nvSpPr>
        <p:spPr>
          <a:xfrm>
            <a:off x="274320" y="4297680"/>
            <a:ext cx="8595360" cy="64008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6" name="Text 3"/>
          <p:cNvSpPr/>
          <p:nvPr/>
        </p:nvSpPr>
        <p:spPr>
          <a:xfrm>
            <a:off x="457200" y="4334256"/>
            <a:ext cx="8229600" cy="548640"/>
          </a:xfrm>
          <a:prstGeom prst="rect">
            <a:avLst/>
          </a:prstGeom>
          <a:noFill/>
          <a:ln/>
        </p:spPr>
        <p:txBody>
          <a:bodyPr wrap="square" lIns="50800" tIns="50800" rIns="50800" bIns="5080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</a:rPr>
              <a:t>→  Approche hybride (LLM + analyseur statique) : combine le rappel des LLMs et la précision des outils statiques. C'est exactement ce que propose notre framework agentique.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LLMs pour la Génération IaC Sécurisée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74320" y="1051560"/>
            <a:ext cx="411480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74320" y="1051560"/>
            <a:ext cx="4114800" cy="3840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65760" y="1088136"/>
            <a:ext cx="393192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GenSIAC  [11] — Li et al., 2025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365760" y="1508760"/>
            <a:ext cx="3886200" cy="1371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Dataset d'instruction-tuning </a:t>
            </a:r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pour rendre les LLMs conscients de la sécurité IaC.
</a:t>
            </a:r>
            <a:endParaRPr lang="en-US" sz="1100" dirty="0"/>
          </a:p>
          <a:p>
            <a:pPr indent="0" marL="0">
              <a:buNone/>
            </a:pPr>
            <a:r>
              <a:rPr lang="en-US" sz="1100" b="1" dirty="0">
                <a:solidFill>
                  <a:srgbClr val="1B2A3B"/>
                </a:solidFill>
              </a:rPr>
              <a:t>Résultat clé : </a:t>
            </a:r>
            <a:pPr indent="0" marL="0">
              <a:buNone/>
            </a:pPr>
            <a:r>
              <a:rPr lang="en-US" sz="1100" dirty="0">
                <a:solidFill>
                  <a:srgbClr val="1B2A3B"/>
                </a:solidFill>
              </a:rPr>
              <a:t>F1-score de génération sécurisée passe de 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57200" y="2788920"/>
            <a:ext cx="1371600" cy="548640"/>
          </a:xfrm>
          <a:prstGeom prst="rect">
            <a:avLst/>
          </a:prstGeom>
          <a:solidFill>
            <a:srgbClr val="EF5350">
              <a:alpha val="80000"/>
            </a:srgbClr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57200" y="2788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 = 0.30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(avant)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1920240" y="2788920"/>
            <a:ext cx="3657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00BFA5"/>
                </a:solidFill>
              </a:rPr>
              <a:t>→</a:t>
            </a:r>
            <a:endParaRPr lang="en-US" sz="2000" dirty="0"/>
          </a:p>
        </p:txBody>
      </p:sp>
      <p:sp>
        <p:nvSpPr>
          <p:cNvPr id="11" name="Shape 9"/>
          <p:cNvSpPr/>
          <p:nvPr/>
        </p:nvSpPr>
        <p:spPr>
          <a:xfrm>
            <a:off x="2377440" y="2788920"/>
            <a:ext cx="1371600" cy="548640"/>
          </a:xfrm>
          <a:prstGeom prst="rect">
            <a:avLst/>
          </a:prstGeom>
          <a:solidFill>
            <a:srgbClr val="66BB6A">
              <a:alpha val="90000"/>
            </a:srgbClr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2377440" y="2788920"/>
            <a:ext cx="1371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F1 = 0.85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(après)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365760" y="3429000"/>
            <a:ext cx="38862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46E7A"/>
                </a:solidFill>
              </a:rPr>
              <a:t>Rôle dans le framework : Fine-tuning du Fix Generator pour produire des correctifs IaC sécurisés.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663440" y="1051560"/>
            <a:ext cx="4206240" cy="374904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4663440" y="1051560"/>
            <a:ext cx="4206240" cy="3840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4754880" y="1088136"/>
            <a:ext cx="402336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SecLLM  [5] — De Vito et al., 2025</a:t>
            </a:r>
            <a:endParaRPr lang="en-US" sz="1200" dirty="0"/>
          </a:p>
        </p:txBody>
      </p:sp>
      <p:sp>
        <p:nvSpPr>
          <p:cNvPr id="17" name="Shape 15"/>
          <p:cNvSpPr/>
          <p:nvPr/>
        </p:nvSpPr>
        <p:spPr>
          <a:xfrm>
            <a:off x="4754880" y="1545336"/>
            <a:ext cx="54864" cy="2286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892040" y="1508760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Prompt engineering structuré pour la détection de smells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754880" y="2167128"/>
            <a:ext cx="54864" cy="2286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0" name="Text 18"/>
          <p:cNvSpPr/>
          <p:nvPr/>
        </p:nvSpPr>
        <p:spPr>
          <a:xfrm>
            <a:off x="4892040" y="213055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Cache de résultats : réduction de la non-déterminisme LLM</a:t>
            </a:r>
            <a:endParaRPr lang="en-US" sz="1000" dirty="0"/>
          </a:p>
        </p:txBody>
      </p:sp>
      <p:sp>
        <p:nvSpPr>
          <p:cNvPr id="21" name="Shape 19"/>
          <p:cNvSpPr/>
          <p:nvPr/>
        </p:nvSpPr>
        <p:spPr>
          <a:xfrm>
            <a:off x="4754880" y="2788920"/>
            <a:ext cx="54864" cy="2286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892040" y="2752344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Filtrage par score de confiance : seuil adaptatif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4754880" y="3410712"/>
            <a:ext cx="54864" cy="2286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892040" y="3374136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Surpasse GLITCH sur plusieurs benchmarks IaC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4754880" y="4032504"/>
            <a:ext cx="54864" cy="22860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4892040" y="3995928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Rôle : inspire le scoring des patches dans le Fix Generator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0D1B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Architecture Agentique Proposée — 6 Modules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2834640" cy="1828800"/>
          </a:xfrm>
          <a:prstGeom prst="rect">
            <a:avLst/>
          </a:prstGeom>
          <a:solidFill>
            <a:srgbClr val="1B2A3B"/>
          </a:solidFill>
          <a:ln w="25400">
            <a:solidFill>
              <a:srgbClr val="00BFA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228600" y="1051560"/>
            <a:ext cx="2834640" cy="384048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32004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01  Orchestrateur Central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338328" y="150876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Gère le workflow, l'état global et prend les décisions d'itération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46120" y="1051560"/>
            <a:ext cx="2834640" cy="1828800"/>
          </a:xfrm>
          <a:prstGeom prst="rect">
            <a:avLst/>
          </a:prstGeom>
          <a:solidFill>
            <a:srgbClr val="1B2A3B"/>
          </a:solidFill>
          <a:ln w="254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3246120" y="1051560"/>
            <a:ext cx="2834640" cy="384048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33756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02  Analyseur Contextuel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355848" y="150876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CodeBERT + métriques — type IaC, zones à risque, contexte enrichi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263640" y="1051560"/>
            <a:ext cx="2834640" cy="1828800"/>
          </a:xfrm>
          <a:prstGeom prst="rect">
            <a:avLst/>
          </a:prstGeom>
          <a:solidFill>
            <a:srgbClr val="1B2A3B"/>
          </a:solidFill>
          <a:ln w="254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051560"/>
            <a:ext cx="2834640" cy="384048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355080" y="109728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03  Retriever RAG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6373368" y="150876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Base vectorielle (62 smells + audits) — documents pertinents selon contexte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228600" y="3063240"/>
            <a:ext cx="2834640" cy="1828800"/>
          </a:xfrm>
          <a:prstGeom prst="rect">
            <a:avLst/>
          </a:prstGeom>
          <a:solidFill>
            <a:srgbClr val="1B2A3B"/>
          </a:solidFill>
          <a:ln w="254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Shape 15"/>
          <p:cNvSpPr/>
          <p:nvPr/>
        </p:nvSpPr>
        <p:spPr>
          <a:xfrm>
            <a:off x="228600" y="3063240"/>
            <a:ext cx="2834640" cy="384048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320040" y="3108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04  Fix Generator (LLM)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338328" y="352044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LLM fine-tuné (GenSIAC/SecLLM) — génère des patches + score de confiance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3246120" y="3063240"/>
            <a:ext cx="2834640" cy="1828800"/>
          </a:xfrm>
          <a:prstGeom prst="rect">
            <a:avLst/>
          </a:prstGeom>
          <a:solidFill>
            <a:srgbClr val="1B2A3B"/>
          </a:solidFill>
          <a:ln w="254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3246120" y="3063240"/>
            <a:ext cx="2834640" cy="384048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3337560" y="3108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05  Validateur Externe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3355848" y="352044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GLITCH, Checkov, Terrascan — validation indépendante du LLM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6263640" y="3063240"/>
            <a:ext cx="2834640" cy="1828800"/>
          </a:xfrm>
          <a:prstGeom prst="rect">
            <a:avLst/>
          </a:prstGeom>
          <a:solidFill>
            <a:srgbClr val="1B2A3B"/>
          </a:solidFill>
          <a:ln w="254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Shape 23"/>
          <p:cNvSpPr/>
          <p:nvPr/>
        </p:nvSpPr>
        <p:spPr>
          <a:xfrm>
            <a:off x="6263640" y="3063240"/>
            <a:ext cx="2834640" cy="384048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</p:spPr>
      </p:sp>
      <p:sp>
        <p:nvSpPr>
          <p:cNvPr id="26" name="Text 24"/>
          <p:cNvSpPr/>
          <p:nvPr/>
        </p:nvSpPr>
        <p:spPr>
          <a:xfrm>
            <a:off x="6355080" y="3108960"/>
            <a:ext cx="26517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FFFFFF"/>
                </a:solidFill>
              </a:rPr>
              <a:t>06  Formateur de Patch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6373368" y="3520440"/>
            <a:ext cx="2633472" cy="12344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C8D8E8"/>
                </a:solidFill>
              </a:rPr>
              <a:t>Unified diff prêt à l'emploi + explication CWE + justification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3063240" y="1965960"/>
            <a:ext cx="18288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dash"/>
          </a:ln>
        </p:spPr>
      </p:sp>
      <p:sp>
        <p:nvSpPr>
          <p:cNvPr id="29" name="Shape 27"/>
          <p:cNvSpPr/>
          <p:nvPr/>
        </p:nvSpPr>
        <p:spPr>
          <a:xfrm>
            <a:off x="6080760" y="1965960"/>
            <a:ext cx="18288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dash"/>
          </a:ln>
        </p:spPr>
      </p:sp>
      <p:sp>
        <p:nvSpPr>
          <p:cNvPr id="30" name="Shape 28"/>
          <p:cNvSpPr/>
          <p:nvPr/>
        </p:nvSpPr>
        <p:spPr>
          <a:xfrm>
            <a:off x="3063240" y="3977640"/>
            <a:ext cx="18288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dash"/>
          </a:ln>
        </p:spPr>
      </p:sp>
      <p:sp>
        <p:nvSpPr>
          <p:cNvPr id="31" name="Shape 29"/>
          <p:cNvSpPr/>
          <p:nvPr/>
        </p:nvSpPr>
        <p:spPr>
          <a:xfrm>
            <a:off x="6080760" y="3977640"/>
            <a:ext cx="182880" cy="0"/>
          </a:xfrm>
          <a:prstGeom prst="line">
            <a:avLst/>
          </a:prstGeom>
          <a:noFill/>
          <a:ln w="19050">
            <a:solidFill>
              <a:srgbClr val="00BFA5"/>
            </a:solidFill>
            <a:prstDash val="dash"/>
          </a:ln>
        </p:spPr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4F8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914400"/>
          </a:xfrm>
          <a:prstGeom prst="rect">
            <a:avLst/>
          </a:prstGeom>
          <a:solidFill>
            <a:srgbClr val="0D1B2A"/>
          </a:solidFill>
          <a:ln w="12700">
            <a:solidFill>
              <a:srgbClr val="0D1B2A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365760" y="182880"/>
            <a:ext cx="8412480" cy="5486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FFFFFF"/>
                </a:solidFill>
              </a:rPr>
              <a:t>Flux de Travail, Apports &amp; Perspectives</a:t>
            </a:r>
            <a:endParaRPr lang="en-US" sz="2200" dirty="0"/>
          </a:p>
        </p:txBody>
      </p:sp>
      <p:sp>
        <p:nvSpPr>
          <p:cNvPr id="4" name="Shape 2"/>
          <p:cNvSpPr/>
          <p:nvPr/>
        </p:nvSpPr>
        <p:spPr>
          <a:xfrm>
            <a:off x="228600" y="1051560"/>
            <a:ext cx="1325880" cy="960120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228600" y="10698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1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228600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Soumission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Script IaC</a:t>
            </a:r>
            <a:endParaRPr lang="en-US" sz="900" dirty="0"/>
          </a:p>
        </p:txBody>
      </p:sp>
      <p:sp>
        <p:nvSpPr>
          <p:cNvPr id="7" name="Shape 5"/>
          <p:cNvSpPr/>
          <p:nvPr/>
        </p:nvSpPr>
        <p:spPr>
          <a:xfrm>
            <a:off x="1554480" y="1527048"/>
            <a:ext cx="155448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1709928" y="1051560"/>
            <a:ext cx="1325880" cy="960120"/>
          </a:xfrm>
          <a:prstGeom prst="rect">
            <a:avLst/>
          </a:prstGeom>
          <a:solidFill>
            <a:srgbClr val="42A5F5"/>
          </a:solidFill>
          <a:ln w="12700">
            <a:solidFill>
              <a:srgbClr val="42A5F5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9" name="Text 7"/>
          <p:cNvSpPr/>
          <p:nvPr/>
        </p:nvSpPr>
        <p:spPr>
          <a:xfrm>
            <a:off x="1709928" y="10698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2</a:t>
            </a:r>
            <a:endParaRPr lang="en-US" sz="1400" dirty="0"/>
          </a:p>
        </p:txBody>
      </p:sp>
      <p:sp>
        <p:nvSpPr>
          <p:cNvPr id="10" name="Text 8"/>
          <p:cNvSpPr/>
          <p:nvPr/>
        </p:nvSpPr>
        <p:spPr>
          <a:xfrm>
            <a:off x="1709928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Analyse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Contextuelle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3035808" y="1527048"/>
            <a:ext cx="155448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12" name="Shape 10"/>
          <p:cNvSpPr/>
          <p:nvPr/>
        </p:nvSpPr>
        <p:spPr>
          <a:xfrm>
            <a:off x="3191256" y="1051560"/>
            <a:ext cx="1325880" cy="960120"/>
          </a:xfrm>
          <a:prstGeom prst="rect">
            <a:avLst/>
          </a:prstGeom>
          <a:solidFill>
            <a:srgbClr val="00897B"/>
          </a:solidFill>
          <a:ln w="12700">
            <a:solidFill>
              <a:srgbClr val="00897B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3" name="Text 11"/>
          <p:cNvSpPr/>
          <p:nvPr/>
        </p:nvSpPr>
        <p:spPr>
          <a:xfrm>
            <a:off x="3191256" y="10698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3</a:t>
            </a:r>
            <a:endParaRPr lang="en-US" sz="1400" dirty="0"/>
          </a:p>
        </p:txBody>
      </p:sp>
      <p:sp>
        <p:nvSpPr>
          <p:cNvPr id="14" name="Text 12"/>
          <p:cNvSpPr/>
          <p:nvPr/>
        </p:nvSpPr>
        <p:spPr>
          <a:xfrm>
            <a:off x="3191256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Retrieval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RAG</a:t>
            </a:r>
            <a:endParaRPr lang="en-US" sz="900" dirty="0"/>
          </a:p>
        </p:txBody>
      </p:sp>
      <p:sp>
        <p:nvSpPr>
          <p:cNvPr id="15" name="Shape 13"/>
          <p:cNvSpPr/>
          <p:nvPr/>
        </p:nvSpPr>
        <p:spPr>
          <a:xfrm>
            <a:off x="4517136" y="1527048"/>
            <a:ext cx="155448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16" name="Shape 14"/>
          <p:cNvSpPr/>
          <p:nvPr/>
        </p:nvSpPr>
        <p:spPr>
          <a:xfrm>
            <a:off x="4672584" y="1051560"/>
            <a:ext cx="1325880" cy="96012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4672584" y="10698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4</a:t>
            </a:r>
            <a:endParaRPr lang="en-US" sz="1400" dirty="0"/>
          </a:p>
        </p:txBody>
      </p:sp>
      <p:sp>
        <p:nvSpPr>
          <p:cNvPr id="18" name="Text 16"/>
          <p:cNvSpPr/>
          <p:nvPr/>
        </p:nvSpPr>
        <p:spPr>
          <a:xfrm>
            <a:off x="4672584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Génération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Patch LLM</a:t>
            </a:r>
            <a:endParaRPr lang="en-US" sz="900" dirty="0"/>
          </a:p>
        </p:txBody>
      </p:sp>
      <p:sp>
        <p:nvSpPr>
          <p:cNvPr id="19" name="Shape 17"/>
          <p:cNvSpPr/>
          <p:nvPr/>
        </p:nvSpPr>
        <p:spPr>
          <a:xfrm>
            <a:off x="5998464" y="1527048"/>
            <a:ext cx="155448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20" name="Shape 18"/>
          <p:cNvSpPr/>
          <p:nvPr/>
        </p:nvSpPr>
        <p:spPr>
          <a:xfrm>
            <a:off x="6153912" y="1051560"/>
            <a:ext cx="1325880" cy="960120"/>
          </a:xfrm>
          <a:prstGeom prst="rect">
            <a:avLst/>
          </a:prstGeom>
          <a:solidFill>
            <a:srgbClr val="EF5350"/>
          </a:solidFill>
          <a:ln w="12700">
            <a:solidFill>
              <a:srgbClr val="EF535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1" name="Text 19"/>
          <p:cNvSpPr/>
          <p:nvPr/>
        </p:nvSpPr>
        <p:spPr>
          <a:xfrm>
            <a:off x="6153912" y="10698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5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6153912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Validation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Externe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7479792" y="1527048"/>
            <a:ext cx="155448" cy="0"/>
          </a:xfrm>
          <a:prstGeom prst="line">
            <a:avLst/>
          </a:prstGeom>
          <a:noFill/>
          <a:ln w="25400">
            <a:solidFill>
              <a:srgbClr val="00BFA5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7635240" y="1051560"/>
            <a:ext cx="1325880" cy="960120"/>
          </a:xfrm>
          <a:prstGeom prst="rect">
            <a:avLst/>
          </a:prstGeom>
          <a:solidFill>
            <a:srgbClr val="66BB6A"/>
          </a:solidFill>
          <a:ln w="12700">
            <a:solidFill>
              <a:srgbClr val="66BB6A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5" name="Text 23"/>
          <p:cNvSpPr/>
          <p:nvPr/>
        </p:nvSpPr>
        <p:spPr>
          <a:xfrm>
            <a:off x="7635240" y="1069848"/>
            <a:ext cx="1325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</a:rPr>
              <a:t>6</a:t>
            </a:r>
            <a:endParaRPr lang="en-US" sz="1400" dirty="0"/>
          </a:p>
        </p:txBody>
      </p:sp>
      <p:sp>
        <p:nvSpPr>
          <p:cNvPr id="26" name="Text 24"/>
          <p:cNvSpPr/>
          <p:nvPr/>
        </p:nvSpPr>
        <p:spPr>
          <a:xfrm>
            <a:off x="7635240" y="1371600"/>
            <a:ext cx="132588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Patch</a:t>
            </a:r>
            <a:endParaRPr lang="en-US" sz="900" dirty="0"/>
          </a:p>
          <a:p>
            <a:pPr algn="ctr" indent="0" marL="0">
              <a:buNone/>
            </a:pPr>
            <a:r>
              <a:rPr lang="en-US" sz="900" dirty="0">
                <a:solidFill>
                  <a:srgbClr val="FFFFFF"/>
                </a:solidFill>
              </a:rPr>
              <a:t>Validé ✓</a:t>
            </a:r>
            <a:endParaRPr lang="en-US" sz="900" dirty="0"/>
          </a:p>
        </p:txBody>
      </p:sp>
      <p:sp>
        <p:nvSpPr>
          <p:cNvPr id="27" name="Text 25"/>
          <p:cNvSpPr/>
          <p:nvPr/>
        </p:nvSpPr>
        <p:spPr>
          <a:xfrm>
            <a:off x="228600" y="2084832"/>
            <a:ext cx="8686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46E7A"/>
                </a:solidFill>
              </a:rPr>
              <a:t>↺  Boucle d'itération (max 3×) si patch invalide : révision query RAG ou re-génération LLM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274320" y="2468880"/>
            <a:ext cx="402336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29" name="Shape 27"/>
          <p:cNvSpPr/>
          <p:nvPr/>
        </p:nvSpPr>
        <p:spPr>
          <a:xfrm>
            <a:off x="274320" y="2468880"/>
            <a:ext cx="4023360" cy="347472"/>
          </a:xfrm>
          <a:prstGeom prst="rect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0" name="Text 28"/>
          <p:cNvSpPr/>
          <p:nvPr/>
        </p:nvSpPr>
        <p:spPr>
          <a:xfrm>
            <a:off x="347472" y="2496312"/>
            <a:ext cx="3886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Apports Principaux</a:t>
            </a:r>
            <a:endParaRPr lang="en-US" sz="1200" dirty="0"/>
          </a:p>
        </p:txBody>
      </p:sp>
      <p:sp>
        <p:nvSpPr>
          <p:cNvPr id="31" name="Shape 29"/>
          <p:cNvSpPr/>
          <p:nvPr/>
        </p:nvSpPr>
        <p:spPr>
          <a:xfrm>
            <a:off x="365760" y="2907792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621792" y="2871216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Boucle de validation indépendante du LLM (GLITCH, Checkov)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365760" y="3383280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4" name="Text 32"/>
          <p:cNvSpPr/>
          <p:nvPr/>
        </p:nvSpPr>
        <p:spPr>
          <a:xfrm>
            <a:off x="621792" y="3346704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Remédiation itérative et contextuelle (au-delà de CRAG)</a:t>
            </a:r>
            <a:endParaRPr lang="en-US" sz="1000" dirty="0"/>
          </a:p>
        </p:txBody>
      </p:sp>
      <p:sp>
        <p:nvSpPr>
          <p:cNvPr id="35" name="Shape 33"/>
          <p:cNvSpPr/>
          <p:nvPr/>
        </p:nvSpPr>
        <p:spPr>
          <a:xfrm>
            <a:off x="365760" y="3858768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6" name="Text 34"/>
          <p:cNvSpPr/>
          <p:nvPr/>
        </p:nvSpPr>
        <p:spPr>
          <a:xfrm>
            <a:off x="621792" y="3822192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Patches actionnables + diff + références CWE</a:t>
            </a:r>
            <a:endParaRPr lang="en-US" sz="1000" dirty="0"/>
          </a:p>
        </p:txBody>
      </p:sp>
      <p:sp>
        <p:nvSpPr>
          <p:cNvPr id="37" name="Shape 35"/>
          <p:cNvSpPr/>
          <p:nvPr/>
        </p:nvSpPr>
        <p:spPr>
          <a:xfrm>
            <a:off x="365760" y="4334256"/>
            <a:ext cx="182880" cy="182880"/>
          </a:xfrm>
          <a:prstGeom prst="ellipse">
            <a:avLst/>
          </a:prstGeom>
          <a:solidFill>
            <a:srgbClr val="00BFA5"/>
          </a:solidFill>
          <a:ln w="12700">
            <a:solidFill>
              <a:srgbClr val="00BFA5"/>
            </a:solidFill>
            <a:prstDash val="solid"/>
          </a:ln>
        </p:spPr>
      </p:sp>
      <p:sp>
        <p:nvSpPr>
          <p:cNvPr id="38" name="Text 36"/>
          <p:cNvSpPr/>
          <p:nvPr/>
        </p:nvSpPr>
        <p:spPr>
          <a:xfrm>
            <a:off x="621792" y="4297680"/>
            <a:ext cx="35661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Hybridation LLM + analyseur statique (meilleur F1 combiné)</a:t>
            </a:r>
            <a:endParaRPr lang="en-US" sz="1000" dirty="0"/>
          </a:p>
        </p:txBody>
      </p:sp>
      <p:sp>
        <p:nvSpPr>
          <p:cNvPr id="39" name="Shape 37"/>
          <p:cNvSpPr/>
          <p:nvPr/>
        </p:nvSpPr>
        <p:spPr>
          <a:xfrm>
            <a:off x="4663440" y="2468880"/>
            <a:ext cx="4206240" cy="2331720"/>
          </a:xfrm>
          <a:prstGeom prst="rect">
            <a:avLst/>
          </a:prstGeom>
          <a:solidFill>
            <a:srgbClr val="FFFFFF"/>
          </a:solidFill>
          <a:ln w="12700">
            <a:solidFill>
              <a:srgbClr val="E0E0E0"/>
            </a:solidFill>
            <a:prstDash val="solid"/>
          </a:ln>
          <a:effectLst>
            <a:outerShdw sx="100000" sy="100000" kx="0" ky="0" algn="bl" rotWithShape="0" blurRad="101600" dist="38100" dir="8100000">
              <a:srgbClr val="000000">
                <a:alpha val="18000"/>
              </a:srgbClr>
            </a:outerShdw>
          </a:effectLst>
        </p:spPr>
      </p:sp>
      <p:sp>
        <p:nvSpPr>
          <p:cNvPr id="40" name="Shape 38"/>
          <p:cNvSpPr/>
          <p:nvPr/>
        </p:nvSpPr>
        <p:spPr>
          <a:xfrm>
            <a:off x="4663440" y="2468880"/>
            <a:ext cx="4206240" cy="347472"/>
          </a:xfrm>
          <a:prstGeom prst="rect">
            <a:avLst/>
          </a:prstGeom>
          <a:solidFill>
            <a:srgbClr val="1B2A3B"/>
          </a:solidFill>
          <a:ln w="12700">
            <a:solidFill>
              <a:srgbClr val="1B2A3B"/>
            </a:solidFill>
            <a:prstDash val="solid"/>
          </a:ln>
        </p:spPr>
      </p:sp>
      <p:sp>
        <p:nvSpPr>
          <p:cNvPr id="41" name="Text 39"/>
          <p:cNvSpPr/>
          <p:nvPr/>
        </p:nvSpPr>
        <p:spPr>
          <a:xfrm>
            <a:off x="4736592" y="249631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FFFFFF"/>
                </a:solidFill>
              </a:rPr>
              <a:t>Perspectives &amp; Travaux Futurs</a:t>
            </a:r>
            <a:endParaRPr lang="en-US" sz="1200" dirty="0"/>
          </a:p>
        </p:txBody>
      </p:sp>
      <p:sp>
        <p:nvSpPr>
          <p:cNvPr id="42" name="Shape 40"/>
          <p:cNvSpPr/>
          <p:nvPr/>
        </p:nvSpPr>
        <p:spPr>
          <a:xfrm>
            <a:off x="4754880" y="2944368"/>
            <a:ext cx="182880" cy="1828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5010912" y="2907792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Implémentation d'un prototype &amp; évaluation sur datasets réels</a:t>
            </a:r>
            <a:endParaRPr lang="en-US" sz="1000" dirty="0"/>
          </a:p>
        </p:txBody>
      </p:sp>
      <p:sp>
        <p:nvSpPr>
          <p:cNvPr id="44" name="Shape 42"/>
          <p:cNvSpPr/>
          <p:nvPr/>
        </p:nvSpPr>
        <p:spPr>
          <a:xfrm>
            <a:off x="4754880" y="3419856"/>
            <a:ext cx="182880" cy="1828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5" name="Text 43"/>
          <p:cNvSpPr/>
          <p:nvPr/>
        </p:nvSpPr>
        <p:spPr>
          <a:xfrm>
            <a:off x="5010912" y="3383280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Construction de la base vectorielle (taxonomies + rapports d'audit)</a:t>
            </a:r>
            <a:endParaRPr lang="en-US" sz="1000" dirty="0"/>
          </a:p>
        </p:txBody>
      </p:sp>
      <p:sp>
        <p:nvSpPr>
          <p:cNvPr id="46" name="Shape 44"/>
          <p:cNvSpPr/>
          <p:nvPr/>
        </p:nvSpPr>
        <p:spPr>
          <a:xfrm>
            <a:off x="4754880" y="3895344"/>
            <a:ext cx="182880" cy="1828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7" name="Text 45"/>
          <p:cNvSpPr/>
          <p:nvPr/>
        </p:nvSpPr>
        <p:spPr>
          <a:xfrm>
            <a:off x="5010912" y="3858768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Gestion fine de la non-déterminisme LLM (caching, seuils)</a:t>
            </a:r>
            <a:endParaRPr lang="en-US" sz="1000" dirty="0"/>
          </a:p>
        </p:txBody>
      </p:sp>
      <p:sp>
        <p:nvSpPr>
          <p:cNvPr id="48" name="Shape 46"/>
          <p:cNvSpPr/>
          <p:nvPr/>
        </p:nvSpPr>
        <p:spPr>
          <a:xfrm>
            <a:off x="4754880" y="4370832"/>
            <a:ext cx="182880" cy="182880"/>
          </a:xfrm>
          <a:prstGeom prst="rect">
            <a:avLst/>
          </a:prstGeom>
          <a:solidFill>
            <a:srgbClr val="FFB300"/>
          </a:solidFill>
          <a:ln w="12700">
            <a:solidFill>
              <a:srgbClr val="FFB300"/>
            </a:solidFill>
            <a:prstDash val="solid"/>
          </a:ln>
        </p:spPr>
      </p:sp>
      <p:sp>
        <p:nvSpPr>
          <p:cNvPr id="49" name="Text 47"/>
          <p:cNvSpPr/>
          <p:nvPr/>
        </p:nvSpPr>
        <p:spPr>
          <a:xfrm>
            <a:off x="5010912" y="4334256"/>
            <a:ext cx="374904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B2A3B"/>
                </a:solidFill>
              </a:rPr>
              <a:t>Boucle de feedback utilisateur pour affiner les corrections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Agentic Framework for IaC Misconfiguration Analysis and Remediation</dc:title>
  <dc:subject>PptxGenJS Presentation</dc:subject>
  <dc:creator>PptxGenJS</dc:creator>
  <cp:lastModifiedBy>PptxGenJS</cp:lastModifiedBy>
  <cp:revision>1</cp:revision>
  <dcterms:created xsi:type="dcterms:W3CDTF">2026-03-14T15:23:20Z</dcterms:created>
  <dcterms:modified xsi:type="dcterms:W3CDTF">2026-03-14T15:23:20Z</dcterms:modified>
</cp:coreProperties>
</file>